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h-TH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magePro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34"/>
          </a:solidFill>
          <a:ln w="10160">
            <a:noFill/>
          </a:ln>
        </p:spPr>
      </p:sp>
      <p:sp>
        <p:nvSpPr>
          <p:cNvPr id="3" name="Shape 3"/>
          <p:cNvSpPr/>
          <p:nvPr/>
        </p:nvSpPr>
        <p:spPr>
          <a:xfrm>
            <a:off x="621792" y="566928"/>
            <a:ext cx="566928" cy="64008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621792" y="786384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00" b="1" dirty="0">
                <a:solidFill>
                  <a:srgbClr val="BFC9D4"/>
                </a:solidFill>
                <a:latin typeface="Leelawadee UI"/>
                <a:ea typeface="Leelawadee UI"/>
                <a:cs typeface="Leelawadee UI"/>
              </a:rPr>
              <a:t>IMAGEPRO  /  AI IMAGE STUDIO</a:t>
            </a:r>
            <a:endParaRPr lang="th-TH" sz="1200">
              <a:solidFill>
                <a:srgbClr val="BFC9D4"/>
              </a:solidFill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621792" y="1481328"/>
            <a:ext cx="557784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th-TH" sz="40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เปลี่ยนข้อความ</a:t>
            </a:r>
            <a:endParaRPr lang="th-TH" sz="4000">
              <a:solidFill>
                <a:srgbClr val="FFFFFF"/>
              </a:solidFill>
            </a:endParaRPr>
          </a:p>
          <a:p>
            <a:pPr algn="l">
              <a:lnSpc>
                <a:spcPct val="105000"/>
              </a:lnSpc>
            </a:pPr>
            <a:r>
              <a:rPr lang="th-TH" sz="40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ให้เป็นภาพ AI</a:t>
            </a:r>
            <a:endParaRPr lang="th-TH" sz="4000">
              <a:solidFill>
                <a:srgbClr val="FFFFFF"/>
              </a:solidFill>
            </a:endParaRPr>
          </a:p>
        </p:txBody>
      </p:sp>
      <p:sp>
        <p:nvSpPr>
          <p:cNvPr id="6" name="Shape 6"/>
          <p:cNvSpPr txBox="1"/>
          <p:nvPr/>
        </p:nvSpPr>
        <p:spPr>
          <a:xfrm>
            <a:off x="649224" y="3127248"/>
            <a:ext cx="5394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lang="th-TH" sz="180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เว็บสร้างภาพจาก Prompt ด้วย Stable Diffusion</a:t>
            </a:r>
            <a:endParaRPr lang="th-TH" sz="1800">
              <a:solidFill>
                <a:srgbClr val="D7DEE6"/>
              </a:solidFill>
            </a:endParaRPr>
          </a:p>
          <a:p>
            <a:pPr algn="l">
              <a:lnSpc>
                <a:spcPct val="116000"/>
              </a:lnSpc>
            </a:pPr>
            <a:r>
              <a:rPr lang="th-TH" sz="180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แยกหน้าเว็บ, Backend และ AI Worker เป็นส่วน ๆ</a:t>
            </a:r>
            <a:endParaRPr lang="th-TH" sz="1800">
              <a:solidFill>
                <a:srgbClr val="D7DEE6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640080" y="4416552"/>
            <a:ext cx="1490472" cy="429768"/>
          </a:xfrm>
          <a:prstGeom prst="roundRect">
            <a:avLst/>
          </a:prstGeom>
          <a:solidFill>
            <a:srgbClr val="25394D"/>
          </a:solidFill>
          <a:ln w="10160"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67512" y="4434840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5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Prompt → ภาพ</a:t>
            </a:r>
            <a:endParaRPr lang="th-TH" sz="1250">
              <a:solidFill>
                <a:srgbClr val="FFFFFF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2258568" y="4416552"/>
            <a:ext cx="1444752" cy="429768"/>
          </a:xfrm>
          <a:prstGeom prst="roundRect">
            <a:avLst/>
          </a:prstGeom>
          <a:solidFill>
            <a:srgbClr val="25394D"/>
          </a:solidFill>
          <a:ln w="10160"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2286000" y="4434840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5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มีคิวและสถานะ</a:t>
            </a:r>
            <a:endParaRPr lang="th-TH" sz="1250">
              <a:solidFill>
                <a:srgbClr val="FFFFFF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840480" y="4416552"/>
            <a:ext cx="1865376" cy="429768"/>
          </a:xfrm>
          <a:prstGeom prst="roundRect">
            <a:avLst/>
          </a:prstGeom>
          <a:solidFill>
            <a:srgbClr val="25394D"/>
          </a:solidFill>
          <a:ln w="1016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3867912" y="443484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15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แยกเครื่องประมวลผลได้</a:t>
            </a:r>
            <a:endParaRPr lang="th-TH" sz="1150">
              <a:solidFill>
                <a:srgbClr val="FFFFFF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583680" y="1024128"/>
            <a:ext cx="5047488" cy="3282696"/>
          </a:xfrm>
          <a:prstGeom prst="roundRect">
            <a:avLst/>
          </a:prstGeom>
          <a:solidFill>
            <a:srgbClr val="28394B"/>
          </a:solidFill>
          <a:ln w="10160">
            <a:noFill/>
          </a:ln>
        </p:spPr>
      </p:sp>
      <p:pic>
        <p:nvPicPr>
          <p:cNvPr id="14" name="Shape 14" descr="ภาพหน้าจอ Image Studio ที่ผู้ใช้ส่งม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088136"/>
            <a:ext cx="4919472" cy="2953512"/>
          </a:xfrm>
          <a:prstGeom prst="rect">
            <a:avLst/>
          </a:prstGeom>
        </p:spPr>
      </p:pic>
      <p:sp>
        <p:nvSpPr>
          <p:cNvPr id="15" name="Shape 15"/>
          <p:cNvSpPr txBox="1"/>
          <p:nvPr/>
        </p:nvSpPr>
        <p:spPr>
          <a:xfrm>
            <a:off x="6720840" y="4078224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05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หน้าสร้างภาพ: กำหนด Prompt และค่าก่อนกดสร้าง</a:t>
            </a:r>
            <a:endParaRPr lang="th-TH" sz="1050">
              <a:solidFill>
                <a:srgbClr val="D7DEE6"/>
              </a:solidFill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720840" y="4736592"/>
            <a:ext cx="4754880" cy="749808"/>
          </a:xfrm>
          <a:prstGeom prst="roundRect">
            <a:avLst/>
          </a:prstGeom>
          <a:solidFill>
            <a:srgbClr val="203348"/>
          </a:solidFill>
          <a:ln w="10160"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6931152" y="4855464"/>
            <a:ext cx="4315968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4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ผู้ใช้ตั้งค่า  →  Backend จัดคิว  →  Worker สร้างภาพ</a:t>
            </a:r>
            <a:endParaRPr lang="th-TH" sz="1400">
              <a:solidFill>
                <a:srgbClr val="FFFFFF"/>
              </a:solidFill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40080" y="6099048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100" b="0" dirty="0">
                <a:solidFill>
                  <a:srgbClr val="AEBAC8"/>
                </a:solidFill>
                <a:latin typeface="Leelawadee UI"/>
                <a:ea typeface="Leelawadee UI"/>
                <a:cs typeface="Leelawadee UI"/>
              </a:rPr>
              <a:t>สรุปการทำงานสำหรับนำเสนอ</a:t>
            </a:r>
            <a:endParaRPr lang="th-TH" sz="1100">
              <a:solidFill>
                <a:srgbClr val="AEBAC8"/>
              </a:solidFill>
            </a:endParaRPr>
          </a:p>
        </p:txBody>
      </p:sp>
      <p:sp>
        <p:nvSpPr>
          <p:cNvPr id="19" name="Shape 19"/>
          <p:cNvSpPr/>
          <p:nvPr/>
        </p:nvSpPr>
        <p:spPr>
          <a:xfrm>
            <a:off x="530352" y="6473952"/>
            <a:ext cx="11109960" cy="10973"/>
          </a:xfrm>
          <a:prstGeom prst="rect">
            <a:avLst/>
          </a:prstGeom>
          <a:solidFill>
            <a:srgbClr val="56616E"/>
          </a:solidFill>
          <a:ln w="1016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539496" y="6510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830" b="0" dirty="0">
                <a:solidFill>
                  <a:srgbClr val="98A6B5"/>
                </a:solidFill>
                <a:latin typeface="Leelawadee UI"/>
                <a:ea typeface="Leelawadee UI"/>
                <a:cs typeface="Leelawadee UI"/>
              </a:rPr>
              <a:t>IMAGEPRO  •  AI IMAGE STUDIO</a:t>
            </a:r>
            <a:endParaRPr lang="th-TH" sz="830">
              <a:solidFill>
                <a:srgbClr val="98A6B5"/>
              </a:solidFill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830" b="0" dirty="0">
                <a:solidFill>
                  <a:srgbClr val="98A6B5"/>
                </a:solidFill>
                <a:latin typeface="Leelawadee UI"/>
                <a:ea typeface="Leelawadee UI"/>
                <a:cs typeface="Leelawadee UI"/>
              </a:rPr>
              <a:t>01</a:t>
            </a:r>
            <a:endParaRPr lang="th-TH" sz="830">
              <a:solidFill>
                <a:srgbClr val="98A6B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B"/>
          </a:solidFill>
          <a:ln w="10160">
            <a:noFill/>
          </a:ln>
        </p:spPr>
      </p:sp>
      <p:sp>
        <p:nvSpPr>
          <p:cNvPr id="3" name="Shape 3"/>
          <p:cNvSpPr/>
          <p:nvPr/>
        </p:nvSpPr>
        <p:spPr>
          <a:xfrm>
            <a:off x="521208" y="310896"/>
            <a:ext cx="420624" cy="50292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521208" y="4389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2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อ่านหน้าจอ Image Studio</a:t>
            </a:r>
            <a:endParaRPr lang="th-TH" sz="2700">
              <a:solidFill>
                <a:srgbClr val="1C2936"/>
              </a:solidFill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539496" y="9326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ภาพนี้แสดงขั้นตอนตั้งค่า สั่งสร้าง และดูผลลัพธ์</a:t>
            </a:r>
            <a:endParaRPr lang="th-TH" sz="1250">
              <a:solidFill>
                <a:srgbClr val="657180"/>
              </a:solidFill>
            </a:endParaRPr>
          </a:p>
        </p:txBody>
      </p:sp>
      <p:sp>
        <p:nvSpPr>
          <p:cNvPr id="6" name="Shape 6"/>
          <p:cNvSpPr txBox="1"/>
          <p:nvPr/>
        </p:nvSpPr>
        <p:spPr>
          <a:xfrm>
            <a:off x="1124712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10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02</a:t>
            </a:r>
            <a:endParaRPr lang="th-TH" sz="1050">
              <a:solidFill>
                <a:srgbClr val="657180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402336" y="1316736"/>
            <a:ext cx="6473952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D0"/>
            </a:solidFill>
          </a:ln>
        </p:spPr>
      </p:sp>
      <p:pic>
        <p:nvPicPr>
          <p:cNvPr id="8" name="Shape 8" descr="ภาพหน้าจอส่วนสร้างภาพ พร้อมตัวเลือก Prompt โมเดล อัตราส่วน จำนวนภาพ และ CFG Sc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53312"/>
            <a:ext cx="6400800" cy="3840480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5354516" y="1689555"/>
            <a:ext cx="292608" cy="292608"/>
          </a:xfrm>
          <a:prstGeom prst="ellipse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5354516" y="1692299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2283526" y="2858613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2283526" y="2861357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>
            <a:off x="2283526" y="3505326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2283526" y="3508070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5" name="Shape 15"/>
          <p:cNvSpPr/>
          <p:nvPr/>
        </p:nvSpPr>
        <p:spPr>
          <a:xfrm>
            <a:off x="1596659" y="3913253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1596659" y="3915996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7" name="Shape 17"/>
          <p:cNvSpPr/>
          <p:nvPr/>
        </p:nvSpPr>
        <p:spPr>
          <a:xfrm>
            <a:off x="2472663" y="3913253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2472663" y="3915996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9" name="Shape 19"/>
          <p:cNvSpPr/>
          <p:nvPr/>
        </p:nvSpPr>
        <p:spPr>
          <a:xfrm>
            <a:off x="2283526" y="4191837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2283526" y="4194580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283526" y="4390826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2" name="Shape 22"/>
          <p:cNvSpPr txBox="1"/>
          <p:nvPr/>
        </p:nvSpPr>
        <p:spPr>
          <a:xfrm>
            <a:off x="2283526" y="4393569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7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3" name="Shape 23"/>
          <p:cNvSpPr/>
          <p:nvPr/>
        </p:nvSpPr>
        <p:spPr>
          <a:xfrm>
            <a:off x="4483489" y="3405832"/>
            <a:ext cx="292608" cy="292608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4483489" y="3408575"/>
            <a:ext cx="292608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114032" y="1321308"/>
            <a:ext cx="274320" cy="274320"/>
          </a:xfrm>
          <a:prstGeom prst="ellipse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7114032" y="1324051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7" name="Shape 27"/>
          <p:cNvSpPr txBox="1"/>
          <p:nvPr/>
        </p:nvSpPr>
        <p:spPr>
          <a:xfrm>
            <a:off x="7479792" y="1298448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สถานะ Backend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7479792" y="1545336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จุดสีเขียวบอกว่าเชื่อมต่อ Backend ได้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29" name="Shape 29"/>
          <p:cNvSpPr/>
          <p:nvPr/>
        </p:nvSpPr>
        <p:spPr>
          <a:xfrm>
            <a:off x="7114032" y="1943100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7114032" y="1945843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31" name="Shape 31"/>
          <p:cNvSpPr txBox="1"/>
          <p:nvPr/>
        </p:nvSpPr>
        <p:spPr>
          <a:xfrm>
            <a:off x="7479792" y="192024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Prompt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32" name="Shape 32"/>
          <p:cNvSpPr txBox="1"/>
          <p:nvPr/>
        </p:nvSpPr>
        <p:spPr>
          <a:xfrm>
            <a:off x="7479792" y="2167128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เขียนคำอธิบายภาพได้สูงสุด 500 ตัวอักษร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33" name="Shape 33"/>
          <p:cNvSpPr/>
          <p:nvPr/>
        </p:nvSpPr>
        <p:spPr>
          <a:xfrm>
            <a:off x="7114032" y="2564892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34" name="Shape 34"/>
          <p:cNvSpPr txBox="1"/>
          <p:nvPr/>
        </p:nvSpPr>
        <p:spPr>
          <a:xfrm>
            <a:off x="7114032" y="2567635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35" name="Shape 35"/>
          <p:cNvSpPr txBox="1"/>
          <p:nvPr/>
        </p:nvSpPr>
        <p:spPr>
          <a:xfrm>
            <a:off x="7479792" y="2542032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โมเดล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36" name="Shape 36"/>
          <p:cNvSpPr txBox="1"/>
          <p:nvPr/>
        </p:nvSpPr>
        <p:spPr>
          <a:xfrm>
            <a:off x="7479792" y="278892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เลือกไฟล์โมเดล เช่น meinamix_v12Final.safetensors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37" name="Shape 37"/>
          <p:cNvSpPr/>
          <p:nvPr/>
        </p:nvSpPr>
        <p:spPr>
          <a:xfrm>
            <a:off x="7114032" y="3186684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38" name="Shape 38"/>
          <p:cNvSpPr txBox="1"/>
          <p:nvPr/>
        </p:nvSpPr>
        <p:spPr>
          <a:xfrm>
            <a:off x="7114032" y="3189427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39" name="Shape 39"/>
          <p:cNvSpPr txBox="1"/>
          <p:nvPr/>
        </p:nvSpPr>
        <p:spPr>
          <a:xfrm>
            <a:off x="7479792" y="3163824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อัตราส่วนภาพ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40" name="Shape 40"/>
          <p:cNvSpPr txBox="1"/>
          <p:nvPr/>
        </p:nvSpPr>
        <p:spPr>
          <a:xfrm>
            <a:off x="7479792" y="3410712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กำหนดกรอบภาพ: 1:1, 4:3, 16:9 หรือ 9:16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41" name="Shape 41"/>
          <p:cNvSpPr/>
          <p:nvPr/>
        </p:nvSpPr>
        <p:spPr>
          <a:xfrm>
            <a:off x="7114032" y="3808476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2" name="Shape 42"/>
          <p:cNvSpPr txBox="1"/>
          <p:nvPr/>
        </p:nvSpPr>
        <p:spPr>
          <a:xfrm>
            <a:off x="7114032" y="3811219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43" name="Shape 43"/>
          <p:cNvSpPr txBox="1"/>
          <p:nvPr/>
        </p:nvSpPr>
        <p:spPr>
          <a:xfrm>
            <a:off x="7479792" y="3785616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จำนวนภาพ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44" name="Shape 44"/>
          <p:cNvSpPr txBox="1"/>
          <p:nvPr/>
        </p:nvSpPr>
        <p:spPr>
          <a:xfrm>
            <a:off x="7479792" y="4032504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เลือกจำนวนภาพที่ต้องการสร้าง ตามตัวเลือกในภาพ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45" name="Shape 45"/>
          <p:cNvSpPr/>
          <p:nvPr/>
        </p:nvSpPr>
        <p:spPr>
          <a:xfrm>
            <a:off x="7114032" y="4430268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6" name="Shape 46"/>
          <p:cNvSpPr txBox="1"/>
          <p:nvPr/>
        </p:nvSpPr>
        <p:spPr>
          <a:xfrm>
            <a:off x="7114032" y="4433011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47" name="Shape 47"/>
          <p:cNvSpPr txBox="1"/>
          <p:nvPr/>
        </p:nvSpPr>
        <p:spPr>
          <a:xfrm>
            <a:off x="7479792" y="4407408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CFG Scale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48" name="Shape 48"/>
          <p:cNvSpPr txBox="1"/>
          <p:nvPr/>
        </p:nvSpPr>
        <p:spPr>
          <a:xfrm>
            <a:off x="7479792" y="4654296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กำหนดระดับที่โมเดลยึดตาม Prompt; ตัวอย่างนี้คือ 7.0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7114032" y="5052060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50" name="Shape 50"/>
          <p:cNvSpPr txBox="1"/>
          <p:nvPr/>
        </p:nvSpPr>
        <p:spPr>
          <a:xfrm>
            <a:off x="7114032" y="5054803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7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51" name="Shape 51"/>
          <p:cNvSpPr txBox="1"/>
          <p:nvPr/>
        </p:nvSpPr>
        <p:spPr>
          <a:xfrm>
            <a:off x="7479792" y="50292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ปุ่มสร้างภาพ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52" name="Shape 52"/>
          <p:cNvSpPr txBox="1"/>
          <p:nvPr/>
        </p:nvSpPr>
        <p:spPr>
          <a:xfrm>
            <a:off x="7479792" y="5276088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ส่งการตั้งค่าไปเริ่มงานสร้างภาพ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53" name="Shape 53"/>
          <p:cNvSpPr/>
          <p:nvPr/>
        </p:nvSpPr>
        <p:spPr>
          <a:xfrm>
            <a:off x="7114032" y="5673852"/>
            <a:ext cx="274320" cy="27432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54" name="Shape 54"/>
          <p:cNvSpPr txBox="1"/>
          <p:nvPr/>
        </p:nvSpPr>
        <p:spPr>
          <a:xfrm>
            <a:off x="7114032" y="5676595"/>
            <a:ext cx="274320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55" name="Shape 55"/>
          <p:cNvSpPr txBox="1"/>
          <p:nvPr/>
        </p:nvSpPr>
        <p:spPr>
          <a:xfrm>
            <a:off x="7479792" y="5650992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3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Preview</a:t>
            </a:r>
            <a:endParaRPr lang="th-TH" sz="1330">
              <a:solidFill>
                <a:srgbClr val="1C2936"/>
              </a:solidFill>
            </a:endParaRPr>
          </a:p>
        </p:txBody>
      </p:sp>
      <p:sp>
        <p:nvSpPr>
          <p:cNvPr id="56" name="Shape 56"/>
          <p:cNvSpPr txBox="1"/>
          <p:nvPr/>
        </p:nvSpPr>
        <p:spPr>
          <a:xfrm>
            <a:off x="7479792" y="589788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sz="10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แสดงภาพที่ได้; หลังสร้างเสร็จจึงดาวน์โหลดได้</a:t>
            </a:r>
            <a:endParaRPr lang="th-TH" sz="1040">
              <a:solidFill>
                <a:srgbClr val="657180"/>
              </a:solidFill>
            </a:endParaRPr>
          </a:p>
        </p:txBody>
      </p:sp>
      <p:sp>
        <p:nvSpPr>
          <p:cNvPr id="57" name="Shape 57"/>
          <p:cNvSpPr txBox="1"/>
          <p:nvPr/>
        </p:nvSpPr>
        <p:spPr>
          <a:xfrm>
            <a:off x="521208" y="538581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14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ส่วนท้ายของหน้าจอระบุเทคโนโลยี Diffusers และที่อยู่ Backend API</a:t>
            </a:r>
            <a:endParaRPr lang="th-TH" sz="1140">
              <a:solidFill>
                <a:srgbClr val="657180"/>
              </a:solidFill>
            </a:endParaRPr>
          </a:p>
        </p:txBody>
      </p:sp>
      <p:sp>
        <p:nvSpPr>
          <p:cNvPr id="58" name="Shape 58"/>
          <p:cNvSpPr/>
          <p:nvPr/>
        </p:nvSpPr>
        <p:spPr>
          <a:xfrm>
            <a:off x="530352" y="6473952"/>
            <a:ext cx="11109960" cy="10973"/>
          </a:xfrm>
          <a:prstGeom prst="rect">
            <a:avLst/>
          </a:prstGeom>
          <a:solidFill>
            <a:srgbClr val="D8D3CB"/>
          </a:solidFill>
          <a:ln w="10160">
            <a:noFill/>
          </a:ln>
        </p:spPr>
      </p:sp>
      <p:sp>
        <p:nvSpPr>
          <p:cNvPr id="59" name="Shape 59"/>
          <p:cNvSpPr txBox="1"/>
          <p:nvPr/>
        </p:nvSpPr>
        <p:spPr>
          <a:xfrm>
            <a:off x="539496" y="6510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IMAGEPRO  •  AI IMAGE STUDIO</a:t>
            </a:r>
            <a:endParaRPr lang="th-TH" sz="830">
              <a:solidFill>
                <a:srgbClr val="8B9299"/>
              </a:solidFill>
            </a:endParaRPr>
          </a:p>
        </p:txBody>
      </p:sp>
      <p:sp>
        <p:nvSpPr>
          <p:cNvPr id="60" name="Shape 60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02</a:t>
            </a:r>
            <a:endParaRPr lang="th-TH" sz="830">
              <a:solidFill>
                <a:srgbClr val="8B92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B"/>
          </a:solidFill>
          <a:ln w="10160">
            <a:noFill/>
          </a:ln>
        </p:spPr>
      </p:sp>
      <p:sp>
        <p:nvSpPr>
          <p:cNvPr id="3" name="Shape 3"/>
          <p:cNvSpPr/>
          <p:nvPr/>
        </p:nvSpPr>
        <p:spPr>
          <a:xfrm>
            <a:off x="521208" y="310896"/>
            <a:ext cx="420624" cy="50292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521208" y="4389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2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จาก Prompt จนได้ภาพ</a:t>
            </a:r>
            <a:endParaRPr lang="th-TH" sz="2700">
              <a:solidFill>
                <a:srgbClr val="1C2936"/>
              </a:solidFill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539496" y="9326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งานสร้างภาพถูกส่งเป็นคิว เพื่อให้หน้าเว็บและการประมวลผลทำงานแยกกัน</a:t>
            </a:r>
            <a:endParaRPr lang="th-TH" sz="1250">
              <a:solidFill>
                <a:srgbClr val="657180"/>
              </a:solidFill>
            </a:endParaRPr>
          </a:p>
        </p:txBody>
      </p:sp>
      <p:sp>
        <p:nvSpPr>
          <p:cNvPr id="6" name="Shape 6"/>
          <p:cNvSpPr txBox="1"/>
          <p:nvPr/>
        </p:nvSpPr>
        <p:spPr>
          <a:xfrm>
            <a:off x="1124712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10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03</a:t>
            </a:r>
            <a:endParaRPr lang="th-TH" sz="1050">
              <a:solidFill>
                <a:srgbClr val="657180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30352" y="1682496"/>
            <a:ext cx="2039112" cy="29992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865376"/>
            <a:ext cx="393192" cy="393192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685800" y="1868119"/>
            <a:ext cx="393192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685800" y="245973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8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  <a:endParaRPr lang="th-TH" sz="1800">
              <a:solidFill>
                <a:srgbClr val="1C2936"/>
              </a:solidFill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685800" y="2980944"/>
            <a:ext cx="1728216" cy="1316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ใส่ Prompt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เลือกโมเดลและ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ค่าภาพที่ต้องการ</a:t>
            </a:r>
            <a:endParaRPr lang="th-TH" sz="1400">
              <a:solidFill>
                <a:srgbClr val="657180"/>
              </a:solidFill>
            </a:endParaRPr>
          </a:p>
        </p:txBody>
      </p:sp>
      <p:sp>
        <p:nvSpPr>
          <p:cNvPr id="12" name="Shape 12"/>
          <p:cNvSpPr/>
          <p:nvPr/>
        </p:nvSpPr>
        <p:spPr>
          <a:xfrm>
            <a:off x="2619756" y="2999232"/>
            <a:ext cx="246888" cy="310896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13" name="Shape 13"/>
          <p:cNvSpPr/>
          <p:nvPr/>
        </p:nvSpPr>
        <p:spPr>
          <a:xfrm>
            <a:off x="2926080" y="1682496"/>
            <a:ext cx="2039112" cy="29992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081528" y="1865376"/>
            <a:ext cx="393192" cy="393192"/>
          </a:xfrm>
          <a:prstGeom prst="ellipse">
            <a:avLst/>
          </a:prstGeom>
          <a:solidFill>
            <a:srgbClr val="587FAC"/>
          </a:solidFill>
          <a:ln w="10160"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081528" y="1868119"/>
            <a:ext cx="393192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3081528" y="245973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8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Frontend</a:t>
            </a:r>
            <a:endParaRPr lang="th-TH" sz="1800">
              <a:solidFill>
                <a:srgbClr val="1C2936"/>
              </a:solidFill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081528" y="2980944"/>
            <a:ext cx="1728216" cy="1316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ส่งคำขอสร้างภาพ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และติดตามสถานะ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จาก Backend</a:t>
            </a:r>
            <a:endParaRPr lang="th-TH" sz="1400">
              <a:solidFill>
                <a:srgbClr val="657180"/>
              </a:solidFill>
            </a:endParaRPr>
          </a:p>
        </p:txBody>
      </p:sp>
      <p:sp>
        <p:nvSpPr>
          <p:cNvPr id="18" name="Shape 18"/>
          <p:cNvSpPr/>
          <p:nvPr/>
        </p:nvSpPr>
        <p:spPr>
          <a:xfrm>
            <a:off x="5015484" y="2999232"/>
            <a:ext cx="246888" cy="310896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19" name="Shape 19"/>
          <p:cNvSpPr/>
          <p:nvPr/>
        </p:nvSpPr>
        <p:spPr>
          <a:xfrm>
            <a:off x="5321808" y="1682496"/>
            <a:ext cx="2039112" cy="29992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477256" y="1865376"/>
            <a:ext cx="393192" cy="393192"/>
          </a:xfrm>
          <a:prstGeom prst="ellipse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5477256" y="1868119"/>
            <a:ext cx="393192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5477256" y="245973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8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Backend</a:t>
            </a:r>
            <a:endParaRPr lang="th-TH" sz="1800">
              <a:solidFill>
                <a:srgbClr val="1C2936"/>
              </a:solidFill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5477256" y="2980944"/>
            <a:ext cx="1728216" cy="1316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ตรวจข้อมูล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สร้าง job id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และบันทึกคิวใน SQLite</a:t>
            </a:r>
            <a:endParaRPr lang="th-TH" sz="1400">
              <a:solidFill>
                <a:srgbClr val="657180"/>
              </a:solidFill>
            </a:endParaRPr>
          </a:p>
        </p:txBody>
      </p:sp>
      <p:sp>
        <p:nvSpPr>
          <p:cNvPr id="24" name="Shape 24"/>
          <p:cNvSpPr/>
          <p:nvPr/>
        </p:nvSpPr>
        <p:spPr>
          <a:xfrm>
            <a:off x="7411212" y="2999232"/>
            <a:ext cx="246888" cy="310896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5" name="Shape 25"/>
          <p:cNvSpPr/>
          <p:nvPr/>
        </p:nvSpPr>
        <p:spPr>
          <a:xfrm>
            <a:off x="7717536" y="1682496"/>
            <a:ext cx="2039112" cy="29992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26" name="Shape 26"/>
          <p:cNvSpPr/>
          <p:nvPr/>
        </p:nvSpPr>
        <p:spPr>
          <a:xfrm>
            <a:off x="7872984" y="1865376"/>
            <a:ext cx="393192" cy="393192"/>
          </a:xfrm>
          <a:prstGeom prst="ellipse">
            <a:avLst/>
          </a:prstGeom>
          <a:solidFill>
            <a:srgbClr val="D59E35"/>
          </a:solidFill>
          <a:ln w="1016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7872984" y="1868119"/>
            <a:ext cx="393192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7872984" y="245973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8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AI Worker</a:t>
            </a:r>
            <a:endParaRPr lang="th-TH" sz="1800">
              <a:solidFill>
                <a:srgbClr val="1C2936"/>
              </a:solidFill>
            </a:endParaRPr>
          </a:p>
        </p:txBody>
      </p:sp>
      <p:sp>
        <p:nvSpPr>
          <p:cNvPr id="29" name="Shape 29"/>
          <p:cNvSpPr txBox="1"/>
          <p:nvPr/>
        </p:nvSpPr>
        <p:spPr>
          <a:xfrm>
            <a:off x="7872984" y="2980944"/>
            <a:ext cx="1728216" cy="1316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รับงานจากคิว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โหลดโมเดล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แล้วสร้างภาพ</a:t>
            </a:r>
            <a:endParaRPr lang="th-TH" sz="1400">
              <a:solidFill>
                <a:srgbClr val="657180"/>
              </a:solidFill>
            </a:endParaRPr>
          </a:p>
        </p:txBody>
      </p:sp>
      <p:sp>
        <p:nvSpPr>
          <p:cNvPr id="30" name="Shape 30"/>
          <p:cNvSpPr/>
          <p:nvPr/>
        </p:nvSpPr>
        <p:spPr>
          <a:xfrm>
            <a:off x="9806940" y="2999232"/>
            <a:ext cx="246888" cy="310896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31" name="Shape 31"/>
          <p:cNvSpPr/>
          <p:nvPr/>
        </p:nvSpPr>
        <p:spPr>
          <a:xfrm>
            <a:off x="10113264" y="1682496"/>
            <a:ext cx="2039112" cy="29992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32" name="Shape 32"/>
          <p:cNvSpPr/>
          <p:nvPr/>
        </p:nvSpPr>
        <p:spPr>
          <a:xfrm>
            <a:off x="10268712" y="1865376"/>
            <a:ext cx="393192" cy="393192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33" name="Shape 33"/>
          <p:cNvSpPr txBox="1"/>
          <p:nvPr/>
        </p:nvSpPr>
        <p:spPr>
          <a:xfrm>
            <a:off x="10268712" y="1868119"/>
            <a:ext cx="393192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34" name="Shape 34"/>
          <p:cNvSpPr txBox="1"/>
          <p:nvPr/>
        </p:nvSpPr>
        <p:spPr>
          <a:xfrm>
            <a:off x="10268712" y="2459736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8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ผลลัพธ์</a:t>
            </a:r>
            <a:endParaRPr lang="th-TH" sz="1800">
              <a:solidFill>
                <a:srgbClr val="1C2936"/>
              </a:solidFill>
            </a:endParaRPr>
          </a:p>
        </p:txBody>
      </p:sp>
      <p:sp>
        <p:nvSpPr>
          <p:cNvPr id="35" name="Shape 35"/>
          <p:cNvSpPr txBox="1"/>
          <p:nvPr/>
        </p:nvSpPr>
        <p:spPr>
          <a:xfrm>
            <a:off x="10268712" y="2980944"/>
            <a:ext cx="1728216" cy="1316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อัปโหลดไฟล์ PNG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บันทึกผลสำเร็จ</a:t>
            </a:r>
            <a:endParaRPr lang="th-TH" sz="1400">
              <a:solidFill>
                <a:srgbClr val="657180"/>
              </a:solidFill>
            </a:endParaRPr>
          </a:p>
          <a:p>
            <a:pPr algn="l">
              <a:lnSpc>
                <a:spcPct val="118000"/>
              </a:lnSpc>
            </a:pPr>
            <a:r>
              <a:rPr lang="th-TH" sz="140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แล้วแสดงให้ผู้ใช้</a:t>
            </a:r>
            <a:endParaRPr lang="th-TH" sz="1400">
              <a:solidFill>
                <a:srgbClr val="657180"/>
              </a:solidFill>
            </a:endParaRPr>
          </a:p>
        </p:txBody>
      </p:sp>
      <p:sp>
        <p:nvSpPr>
          <p:cNvPr id="36" name="Shape 36"/>
          <p:cNvSpPr txBox="1"/>
          <p:nvPr/>
        </p:nvSpPr>
        <p:spPr>
          <a:xfrm>
            <a:off x="603504" y="50200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35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สถานะของงาน</a:t>
            </a:r>
            <a:endParaRPr lang="th-TH" sz="1350">
              <a:solidFill>
                <a:srgbClr val="1C2936"/>
              </a:solidFill>
            </a:endParaRPr>
          </a:p>
        </p:txBody>
      </p:sp>
      <p:sp>
        <p:nvSpPr>
          <p:cNvPr id="37" name="Shape 37"/>
          <p:cNvSpPr/>
          <p:nvPr/>
        </p:nvSpPr>
        <p:spPr>
          <a:xfrm>
            <a:off x="2441448" y="4965192"/>
            <a:ext cx="2039112" cy="384048"/>
          </a:xfrm>
          <a:prstGeom prst="roundRect">
            <a:avLst/>
          </a:prstGeom>
          <a:solidFill>
            <a:srgbClr val="E6E2DA"/>
          </a:solidFill>
          <a:ln w="10160">
            <a:noFill/>
          </a:ln>
        </p:spPr>
      </p:sp>
      <p:sp>
        <p:nvSpPr>
          <p:cNvPr id="38" name="Shape 38"/>
          <p:cNvSpPr/>
          <p:nvPr/>
        </p:nvSpPr>
        <p:spPr>
          <a:xfrm>
            <a:off x="2532888" y="5047488"/>
            <a:ext cx="182880" cy="182880"/>
          </a:xfrm>
          <a:prstGeom prst="ellipse">
            <a:avLst/>
          </a:prstGeom>
          <a:solidFill>
            <a:srgbClr val="587FAC"/>
          </a:solidFill>
          <a:ln w="10160">
            <a:noFill/>
          </a:ln>
        </p:spPr>
      </p:sp>
      <p:sp>
        <p:nvSpPr>
          <p:cNvPr id="39" name="Shape 39"/>
          <p:cNvSpPr txBox="1"/>
          <p:nvPr/>
        </p:nvSpPr>
        <p:spPr>
          <a:xfrm>
            <a:off x="2779776" y="4992624"/>
            <a:ext cx="160934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000" b="0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queued  •  รอ Worker รับงาน</a:t>
            </a:r>
            <a:endParaRPr lang="th-TH" sz="1000">
              <a:solidFill>
                <a:srgbClr val="1C2936"/>
              </a:solidFill>
            </a:endParaRPr>
          </a:p>
        </p:txBody>
      </p:sp>
      <p:sp>
        <p:nvSpPr>
          <p:cNvPr id="40" name="Shape 40"/>
          <p:cNvSpPr/>
          <p:nvPr/>
        </p:nvSpPr>
        <p:spPr>
          <a:xfrm>
            <a:off x="4709160" y="4965192"/>
            <a:ext cx="2039112" cy="384048"/>
          </a:xfrm>
          <a:prstGeom prst="roundRect">
            <a:avLst/>
          </a:prstGeom>
          <a:solidFill>
            <a:srgbClr val="E6E2DA"/>
          </a:solidFill>
          <a:ln w="10160">
            <a:noFill/>
          </a:ln>
        </p:spPr>
      </p:sp>
      <p:sp>
        <p:nvSpPr>
          <p:cNvPr id="41" name="Shape 41"/>
          <p:cNvSpPr/>
          <p:nvPr/>
        </p:nvSpPr>
        <p:spPr>
          <a:xfrm>
            <a:off x="4800600" y="5047488"/>
            <a:ext cx="182880" cy="182880"/>
          </a:xfrm>
          <a:prstGeom prst="ellipse">
            <a:avLst/>
          </a:prstGeom>
          <a:solidFill>
            <a:srgbClr val="D59E35"/>
          </a:solidFill>
          <a:ln w="10160">
            <a:noFill/>
          </a:ln>
        </p:spPr>
      </p:sp>
      <p:sp>
        <p:nvSpPr>
          <p:cNvPr id="42" name="Shape 42"/>
          <p:cNvSpPr txBox="1"/>
          <p:nvPr/>
        </p:nvSpPr>
        <p:spPr>
          <a:xfrm>
            <a:off x="5047488" y="4992624"/>
            <a:ext cx="160934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000" b="0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processing  •  กำลังประมวลผล</a:t>
            </a:r>
            <a:endParaRPr lang="th-TH" sz="1000">
              <a:solidFill>
                <a:srgbClr val="1C2936"/>
              </a:solidFill>
            </a:endParaRPr>
          </a:p>
        </p:txBody>
      </p:sp>
      <p:sp>
        <p:nvSpPr>
          <p:cNvPr id="43" name="Shape 43"/>
          <p:cNvSpPr/>
          <p:nvPr/>
        </p:nvSpPr>
        <p:spPr>
          <a:xfrm>
            <a:off x="6976872" y="4965192"/>
            <a:ext cx="2039112" cy="384048"/>
          </a:xfrm>
          <a:prstGeom prst="roundRect">
            <a:avLst/>
          </a:prstGeom>
          <a:solidFill>
            <a:srgbClr val="E6E2DA"/>
          </a:solidFill>
          <a:ln w="10160">
            <a:noFill/>
          </a:ln>
        </p:spPr>
      </p:sp>
      <p:sp>
        <p:nvSpPr>
          <p:cNvPr id="44" name="Shape 44"/>
          <p:cNvSpPr/>
          <p:nvPr/>
        </p:nvSpPr>
        <p:spPr>
          <a:xfrm>
            <a:off x="7068312" y="5047488"/>
            <a:ext cx="182880" cy="182880"/>
          </a:xfrm>
          <a:prstGeom prst="ellipse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45" name="Shape 45"/>
          <p:cNvSpPr txBox="1"/>
          <p:nvPr/>
        </p:nvSpPr>
        <p:spPr>
          <a:xfrm>
            <a:off x="7315200" y="4992624"/>
            <a:ext cx="160934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000" b="0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completed  •  สำเร็จ</a:t>
            </a:r>
            <a:endParaRPr lang="th-TH" sz="1000">
              <a:solidFill>
                <a:srgbClr val="1C2936"/>
              </a:solidFill>
            </a:endParaRPr>
          </a:p>
        </p:txBody>
      </p:sp>
      <p:sp>
        <p:nvSpPr>
          <p:cNvPr id="46" name="Shape 46"/>
          <p:cNvSpPr/>
          <p:nvPr/>
        </p:nvSpPr>
        <p:spPr>
          <a:xfrm>
            <a:off x="9244584" y="4965192"/>
            <a:ext cx="2039112" cy="384048"/>
          </a:xfrm>
          <a:prstGeom prst="roundRect">
            <a:avLst/>
          </a:prstGeom>
          <a:solidFill>
            <a:srgbClr val="E6E2DA"/>
          </a:solidFill>
          <a:ln w="10160">
            <a:noFill/>
          </a:ln>
        </p:spPr>
      </p:sp>
      <p:sp>
        <p:nvSpPr>
          <p:cNvPr id="47" name="Shape 47"/>
          <p:cNvSpPr/>
          <p:nvPr/>
        </p:nvSpPr>
        <p:spPr>
          <a:xfrm>
            <a:off x="9336024" y="5047488"/>
            <a:ext cx="182880" cy="182880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8" name="Shape 48"/>
          <p:cNvSpPr txBox="1"/>
          <p:nvPr/>
        </p:nvSpPr>
        <p:spPr>
          <a:xfrm>
            <a:off x="9582912" y="4992624"/>
            <a:ext cx="160934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000" b="0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failed  •  ไม่สำเร็จ</a:t>
            </a:r>
            <a:endParaRPr lang="th-TH" sz="1000">
              <a:solidFill>
                <a:srgbClr val="1C2936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594360" y="5614416"/>
            <a:ext cx="10972800" cy="484632"/>
          </a:xfrm>
          <a:prstGeom prst="roundRect">
            <a:avLst/>
          </a:prstGeom>
          <a:solidFill>
            <a:srgbClr val="E8E4DC"/>
          </a:solidFill>
          <a:ln w="10160">
            <a:noFill/>
          </a:ln>
        </p:spPr>
      </p:sp>
      <p:sp>
        <p:nvSpPr>
          <p:cNvPr id="50" name="Shape 50"/>
          <p:cNvSpPr txBox="1"/>
          <p:nvPr/>
        </p:nvSpPr>
        <p:spPr>
          <a:xfrm>
            <a:off x="822960" y="5678424"/>
            <a:ext cx="104973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20" b="0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หน้าเว็บแสดงความคืบหน้าเป็นระยะ  •  Worker ส่งภาพกลับให้ Backend เก็บและให้บริการ</a:t>
            </a:r>
            <a:endParaRPr lang="th-TH" sz="1220">
              <a:solidFill>
                <a:srgbClr val="1C2936"/>
              </a:solidFill>
            </a:endParaRPr>
          </a:p>
        </p:txBody>
      </p:sp>
      <p:sp>
        <p:nvSpPr>
          <p:cNvPr id="51" name="Shape 51"/>
          <p:cNvSpPr/>
          <p:nvPr/>
        </p:nvSpPr>
        <p:spPr>
          <a:xfrm>
            <a:off x="530352" y="6473952"/>
            <a:ext cx="11109960" cy="10973"/>
          </a:xfrm>
          <a:prstGeom prst="rect">
            <a:avLst/>
          </a:prstGeom>
          <a:solidFill>
            <a:srgbClr val="D8D3CB"/>
          </a:solidFill>
          <a:ln w="10160">
            <a:noFill/>
          </a:ln>
        </p:spPr>
      </p:sp>
      <p:sp>
        <p:nvSpPr>
          <p:cNvPr id="52" name="Shape 52"/>
          <p:cNvSpPr txBox="1"/>
          <p:nvPr/>
        </p:nvSpPr>
        <p:spPr>
          <a:xfrm>
            <a:off x="539496" y="6510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IMAGEPRO  •  AI IMAGE STUDIO</a:t>
            </a:r>
            <a:endParaRPr lang="th-TH" sz="830">
              <a:solidFill>
                <a:srgbClr val="8B9299"/>
              </a:solidFill>
            </a:endParaRPr>
          </a:p>
        </p:txBody>
      </p:sp>
      <p:sp>
        <p:nvSpPr>
          <p:cNvPr id="53" name="Shape 53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03</a:t>
            </a:r>
            <a:endParaRPr lang="th-TH" sz="830">
              <a:solidFill>
                <a:srgbClr val="8B92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34"/>
          </a:solidFill>
          <a:ln w="10160">
            <a:noFill/>
          </a:ln>
        </p:spPr>
      </p:sp>
      <p:sp>
        <p:nvSpPr>
          <p:cNvPr id="3" name="Shape 3"/>
          <p:cNvSpPr/>
          <p:nvPr/>
        </p:nvSpPr>
        <p:spPr>
          <a:xfrm>
            <a:off x="521208" y="310896"/>
            <a:ext cx="420624" cy="50292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521208" y="4389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27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AI_WORKER_TOKEN คือบัตรผ่านของ Worker</a:t>
            </a:r>
            <a:endParaRPr lang="th-TH" sz="2700">
              <a:solidFill>
                <a:srgbClr val="FFFFFF"/>
              </a:solidFill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539496" y="9326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50" b="0" dirty="0">
                <a:solidFill>
                  <a:srgbClr val="BFC9D4"/>
                </a:solidFill>
                <a:latin typeface="Leelawadee UI"/>
                <a:ea typeface="Leelawadee UI"/>
                <a:cs typeface="Leelawadee UI"/>
              </a:rPr>
              <a:t>รหัสลับที่ใช้ยืนยันการสื่อสารระหว่าง AI Worker กับ Backend</a:t>
            </a:r>
            <a:endParaRPr lang="th-TH" sz="1250">
              <a:solidFill>
                <a:srgbClr val="BFC9D4"/>
              </a:solidFill>
            </a:endParaRPr>
          </a:p>
        </p:txBody>
      </p:sp>
      <p:sp>
        <p:nvSpPr>
          <p:cNvPr id="6" name="Shape 6"/>
          <p:cNvSpPr txBox="1"/>
          <p:nvPr/>
        </p:nvSpPr>
        <p:spPr>
          <a:xfrm>
            <a:off x="1124712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1050" b="0" dirty="0">
                <a:solidFill>
                  <a:srgbClr val="BFC9D4"/>
                </a:solidFill>
                <a:latin typeface="Leelawadee UI"/>
                <a:ea typeface="Leelawadee UI"/>
                <a:cs typeface="Leelawadee UI"/>
              </a:rPr>
              <a:t>04</a:t>
            </a:r>
            <a:endParaRPr lang="th-TH" sz="1050">
              <a:solidFill>
                <a:srgbClr val="BFC9D4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640080" y="1627632"/>
            <a:ext cx="2057400" cy="1280160"/>
          </a:xfrm>
          <a:prstGeom prst="roundRect">
            <a:avLst/>
          </a:prstGeom>
          <a:solidFill>
            <a:srgbClr val="294158"/>
          </a:solidFill>
          <a:ln w="12700">
            <a:solidFill>
              <a:srgbClr val="435368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749808" y="1837944"/>
            <a:ext cx="1837944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7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AI Worker</a:t>
            </a:r>
            <a:endParaRPr lang="th-TH" sz="1700">
              <a:solidFill>
                <a:srgbClr val="FFFFFF"/>
              </a:solidFill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49808" y="2313432"/>
            <a:ext cx="183794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050" b="0" dirty="0">
                <a:solidFill>
                  <a:srgbClr val="CED7E1"/>
                </a:solidFill>
                <a:latin typeface="Leelawadee UI"/>
                <a:ea typeface="Leelawadee UI"/>
                <a:cs typeface="Leelawadee UI"/>
              </a:rPr>
              <a:t>ผู้ประมวลผลภาพ</a:t>
            </a:r>
            <a:endParaRPr lang="th-TH" sz="1050">
              <a:solidFill>
                <a:srgbClr val="CED7E1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3246120" y="1627632"/>
            <a:ext cx="2286000" cy="1280160"/>
          </a:xfrm>
          <a:prstGeom prst="roundRect">
            <a:avLst/>
          </a:prstGeom>
          <a:solidFill>
            <a:srgbClr val="3B3542"/>
          </a:solidFill>
          <a:ln w="12700">
            <a:solidFill>
              <a:srgbClr val="435368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3355848" y="1837944"/>
            <a:ext cx="2066544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7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Bearer Token</a:t>
            </a:r>
            <a:endParaRPr lang="th-TH" sz="1700">
              <a:solidFill>
                <a:srgbClr val="FFFFFF"/>
              </a:solidFill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3355848" y="2313432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050" b="0" dirty="0">
                <a:solidFill>
                  <a:srgbClr val="CED7E1"/>
                </a:solidFill>
                <a:latin typeface="Leelawadee UI"/>
                <a:ea typeface="Leelawadee UI"/>
                <a:cs typeface="Leelawadee UI"/>
              </a:rPr>
              <a:t>Authorization: Bearer …</a:t>
            </a:r>
            <a:endParaRPr lang="th-TH" sz="1050">
              <a:solidFill>
                <a:srgbClr val="CED7E1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126480" y="1627632"/>
            <a:ext cx="2240280" cy="1280160"/>
          </a:xfrm>
          <a:prstGeom prst="roundRect">
            <a:avLst/>
          </a:prstGeom>
          <a:solidFill>
            <a:srgbClr val="294158"/>
          </a:solidFill>
          <a:ln w="12700">
            <a:solidFill>
              <a:srgbClr val="435368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6236208" y="1837944"/>
            <a:ext cx="2020824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7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Backend ตรวจ</a:t>
            </a:r>
            <a:endParaRPr lang="th-TH" sz="1700">
              <a:solidFill>
                <a:srgbClr val="FFFFFF"/>
              </a:solidFill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6236208" y="2313432"/>
            <a:ext cx="20208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050" b="0" dirty="0">
                <a:solidFill>
                  <a:srgbClr val="CED7E1"/>
                </a:solidFill>
                <a:latin typeface="Leelawadee UI"/>
                <a:ea typeface="Leelawadee UI"/>
                <a:cs typeface="Leelawadee UI"/>
              </a:rPr>
              <a:t>เทียบกับ AI_WORKER_TOKEN</a:t>
            </a:r>
            <a:endParaRPr lang="th-TH" sz="1050">
              <a:solidFill>
                <a:srgbClr val="CED7E1"/>
              </a:solidFill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942832" y="1627632"/>
            <a:ext cx="2606040" cy="1280160"/>
          </a:xfrm>
          <a:prstGeom prst="roundRect">
            <a:avLst/>
          </a:prstGeom>
          <a:solidFill>
            <a:srgbClr val="294158"/>
          </a:solidFill>
          <a:ln w="12700">
            <a:solidFill>
              <a:srgbClr val="435368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052560" y="1837944"/>
            <a:ext cx="2386584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7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Worker API</a:t>
            </a:r>
            <a:endParaRPr lang="th-TH" sz="1700">
              <a:solidFill>
                <a:srgbClr val="FFFFFF"/>
              </a:solidFill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9052560" y="2313432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050" b="0" dirty="0">
                <a:solidFill>
                  <a:srgbClr val="CED7E1"/>
                </a:solidFill>
                <a:latin typeface="Leelawadee UI"/>
                <a:ea typeface="Leelawadee UI"/>
                <a:cs typeface="Leelawadee UI"/>
              </a:rPr>
              <a:t>รับงาน • รายงาน • ส่งภาพ</a:t>
            </a:r>
            <a:endParaRPr lang="th-TH" sz="1050">
              <a:solidFill>
                <a:srgbClr val="CED7E1"/>
              </a:solidFill>
            </a:endParaRPr>
          </a:p>
        </p:txBody>
      </p:sp>
      <p:sp>
        <p:nvSpPr>
          <p:cNvPr id="19" name="Shape 19"/>
          <p:cNvSpPr/>
          <p:nvPr/>
        </p:nvSpPr>
        <p:spPr>
          <a:xfrm>
            <a:off x="2798064" y="2084832"/>
            <a:ext cx="292608" cy="320040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0" name="Shape 20"/>
          <p:cNvSpPr/>
          <p:nvPr/>
        </p:nvSpPr>
        <p:spPr>
          <a:xfrm>
            <a:off x="5650992" y="2084832"/>
            <a:ext cx="292608" cy="320040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1" name="Shape 21"/>
          <p:cNvSpPr/>
          <p:nvPr/>
        </p:nvSpPr>
        <p:spPr>
          <a:xfrm>
            <a:off x="8485632" y="2084832"/>
            <a:ext cx="292608" cy="320040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2" name="Shape 22"/>
          <p:cNvSpPr txBox="1"/>
          <p:nvPr/>
        </p:nvSpPr>
        <p:spPr>
          <a:xfrm>
            <a:off x="676656" y="331012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7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ใช้อย่างไร</a:t>
            </a:r>
            <a:endParaRPr lang="th-TH" sz="1700">
              <a:solidFill>
                <a:srgbClr val="FFFFFF"/>
              </a:solidFill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713232" y="3730752"/>
            <a:ext cx="5074920" cy="1298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th-TH" sz="132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• ตั้งค่าเดียวกันที่ Backend และ Worker</a:t>
            </a:r>
            <a:endParaRPr lang="th-TH" sz="1320">
              <a:solidFill>
                <a:srgbClr val="D7DEE6"/>
              </a:solidFill>
            </a:endParaRPr>
          </a:p>
          <a:p>
            <a:pPr algn="l">
              <a:lnSpc>
                <a:spcPct val="112000"/>
              </a:lnSpc>
            </a:pPr>
            <a:r>
              <a:rPr lang="th-TH" sz="132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• Worker แนบ token ทุกครั้งที่เรียก Worker API</a:t>
            </a:r>
            <a:endParaRPr lang="th-TH" sz="1320">
              <a:solidFill>
                <a:srgbClr val="D7DEE6"/>
              </a:solidFill>
            </a:endParaRPr>
          </a:p>
          <a:p>
            <a:pPr algn="l">
              <a:lnSpc>
                <a:spcPct val="112000"/>
              </a:lnSpc>
            </a:pPr>
            <a:r>
              <a:rPr lang="th-TH" sz="132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• ครอบคลุมการ claim งาน, ส่ง progress, upload ภาพ</a:t>
            </a:r>
            <a:endParaRPr lang="th-TH" sz="1320">
              <a:solidFill>
                <a:srgbClr val="D7DEE6"/>
              </a:solidFill>
            </a:endParaRPr>
          </a:p>
          <a:p>
            <a:pPr algn="l">
              <a:lnSpc>
                <a:spcPct val="112000"/>
              </a:lnSpc>
            </a:pPr>
            <a:r>
              <a:rPr lang="th-TH" sz="1320" b="0" dirty="0">
                <a:solidFill>
                  <a:srgbClr val="D7DEE6"/>
                </a:solidFill>
                <a:latin typeface="Leelawadee UI"/>
                <a:ea typeface="Leelawadee UI"/>
                <a:cs typeface="Leelawadee UI"/>
              </a:rPr>
              <a:t>  และแจ้งผล completed หรือ failed</a:t>
            </a:r>
            <a:endParaRPr lang="th-TH" sz="1320">
              <a:solidFill>
                <a:srgbClr val="D7DEE6"/>
              </a:solidFill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172200" y="3401568"/>
            <a:ext cx="5212080" cy="1691640"/>
          </a:xfrm>
          <a:prstGeom prst="roundRect">
            <a:avLst/>
          </a:prstGeom>
          <a:solidFill>
            <a:srgbClr val="20364B"/>
          </a:solidFill>
          <a:ln w="10160"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6419088" y="359359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600" b="1" dirty="0">
                <a:solidFill>
                  <a:srgbClr val="8BD0C1"/>
                </a:solidFill>
                <a:latin typeface="Leelawadee UI"/>
                <a:ea typeface="Leelawadee UI"/>
                <a:cs typeface="Leelawadee UI"/>
              </a:rPr>
              <a:t>สิ่งที่ควรรู้</a:t>
            </a:r>
            <a:endParaRPr lang="th-TH" sz="1600">
              <a:solidFill>
                <a:srgbClr val="8BD0C1"/>
              </a:solidFill>
            </a:endParaRPr>
          </a:p>
        </p:txBody>
      </p:sp>
      <p:sp>
        <p:nvSpPr>
          <p:cNvPr id="26" name="Shape 26"/>
          <p:cNvSpPr txBox="1"/>
          <p:nvPr/>
        </p:nvSpPr>
        <p:spPr>
          <a:xfrm>
            <a:off x="6428232" y="400507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lang="th-TH" sz="1250" b="0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ไม่ใช่ token สำหรับ Prompt หรือโมเดล AI</a:t>
            </a:r>
            <a:endParaRPr lang="th-TH" sz="1250">
              <a:solidFill>
                <a:srgbClr val="FFFFFF"/>
              </a:solidFill>
            </a:endParaRPr>
          </a:p>
          <a:p>
            <a:pPr algn="l">
              <a:lnSpc>
                <a:spcPct val="116000"/>
              </a:lnSpc>
            </a:pPr>
            <a:r>
              <a:rPr lang="th-TH" sz="1250" b="0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หน้าเว็บไม่ต้องใช้ token นี้</a:t>
            </a:r>
            <a:endParaRPr lang="th-TH" sz="1250">
              <a:solidFill>
                <a:srgbClr val="FFFFFF"/>
              </a:solidFill>
            </a:endParaRPr>
          </a:p>
          <a:p>
            <a:pPr algn="l">
              <a:lnSpc>
                <a:spcPct val="116000"/>
              </a:lnSpc>
            </a:pPr>
            <a:r>
              <a:rPr lang="th-TH" sz="1250" b="0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ถ้าค่าไม่ตรง Backend ปฏิเสธคำขอ (401)</a:t>
            </a:r>
            <a:endParaRPr lang="th-TH" sz="1250">
              <a:solidFill>
                <a:srgbClr val="FFFFFF"/>
              </a:solidFill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76656" y="5422392"/>
            <a:ext cx="10698480" cy="612648"/>
          </a:xfrm>
          <a:prstGeom prst="roundRect">
            <a:avLst/>
          </a:prstGeom>
          <a:solidFill>
            <a:srgbClr val="4A352F"/>
          </a:solidFill>
          <a:ln w="10160"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868680" y="5522976"/>
            <a:ext cx="102870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160" b="0" dirty="0">
                <a:solidFill>
                  <a:srgbClr val="FFE0D7"/>
                </a:solidFill>
                <a:latin typeface="Leelawadee UI"/>
                <a:ea typeface="Leelawadee UI"/>
                <a:cs typeface="Leelawadee UI"/>
              </a:rPr>
              <a:t>หมายเหตุ: dev-secret ใน run_all.bat ใช้ทดลองในเครื่องเดียว; ระบบจริงควรใช้รหัสสุ่มที่คาดเดายากและไม่เผยแพร่</a:t>
            </a:r>
            <a:endParaRPr lang="th-TH" sz="1160">
              <a:solidFill>
                <a:srgbClr val="FFE0D7"/>
              </a:solidFill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30352" y="6473952"/>
            <a:ext cx="11109960" cy="10973"/>
          </a:xfrm>
          <a:prstGeom prst="rect">
            <a:avLst/>
          </a:prstGeom>
          <a:solidFill>
            <a:srgbClr val="56616E"/>
          </a:solidFill>
          <a:ln w="10160"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539496" y="6510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830" b="0" dirty="0">
                <a:solidFill>
                  <a:srgbClr val="98A6B5"/>
                </a:solidFill>
                <a:latin typeface="Leelawadee UI"/>
                <a:ea typeface="Leelawadee UI"/>
                <a:cs typeface="Leelawadee UI"/>
              </a:rPr>
              <a:t>IMAGEPRO  •  AI IMAGE STUDIO</a:t>
            </a:r>
            <a:endParaRPr lang="th-TH" sz="830">
              <a:solidFill>
                <a:srgbClr val="98A6B5"/>
              </a:solidFill>
            </a:endParaRPr>
          </a:p>
        </p:txBody>
      </p:sp>
      <p:sp>
        <p:nvSpPr>
          <p:cNvPr id="31" name="Shape 31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830" b="0" dirty="0">
                <a:solidFill>
                  <a:srgbClr val="98A6B5"/>
                </a:solidFill>
                <a:latin typeface="Leelawadee UI"/>
                <a:ea typeface="Leelawadee UI"/>
                <a:cs typeface="Leelawadee UI"/>
              </a:rPr>
              <a:t>04</a:t>
            </a:r>
            <a:endParaRPr lang="th-TH" sz="830">
              <a:solidFill>
                <a:srgbClr val="98A6B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B"/>
          </a:solidFill>
          <a:ln w="10160">
            <a:noFill/>
          </a:ln>
        </p:spPr>
      </p:sp>
      <p:sp>
        <p:nvSpPr>
          <p:cNvPr id="3" name="Shape 3"/>
          <p:cNvSpPr/>
          <p:nvPr/>
        </p:nvSpPr>
        <p:spPr>
          <a:xfrm>
            <a:off x="521208" y="310896"/>
            <a:ext cx="420624" cy="50292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521208" y="4389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2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องค์ประกอบและเทคโนโลยี</a:t>
            </a:r>
            <a:endParaRPr lang="th-TH" sz="2700">
              <a:solidFill>
                <a:srgbClr val="1C2936"/>
              </a:solidFill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539496" y="9326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แต่ละส่วนรับผิดชอบงานคนละแบบ และสื่อสารกันผ่าน HTTP</a:t>
            </a:r>
            <a:endParaRPr lang="th-TH" sz="1250">
              <a:solidFill>
                <a:srgbClr val="657180"/>
              </a:solidFill>
            </a:endParaRPr>
          </a:p>
        </p:txBody>
      </p:sp>
      <p:sp>
        <p:nvSpPr>
          <p:cNvPr id="6" name="Shape 6"/>
          <p:cNvSpPr txBox="1"/>
          <p:nvPr/>
        </p:nvSpPr>
        <p:spPr>
          <a:xfrm>
            <a:off x="1124712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10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05</a:t>
            </a:r>
            <a:endParaRPr lang="th-TH" sz="1050">
              <a:solidFill>
                <a:srgbClr val="657180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66928" y="1691640"/>
            <a:ext cx="2432304" cy="3346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8" name="Shape 8"/>
          <p:cNvSpPr/>
          <p:nvPr/>
        </p:nvSpPr>
        <p:spPr>
          <a:xfrm>
            <a:off x="566928" y="1691640"/>
            <a:ext cx="2432304" cy="137160"/>
          </a:xfrm>
          <a:prstGeom prst="rect">
            <a:avLst/>
          </a:prstGeom>
          <a:solidFill>
            <a:srgbClr val="587FAC"/>
          </a:solidFill>
          <a:ln w="1016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731520" y="19842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Frontend</a:t>
            </a:r>
            <a:endParaRPr lang="th-TH" sz="1700">
              <a:solidFill>
                <a:srgbClr val="1C2936"/>
              </a:solidFill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749808" y="2578608"/>
            <a:ext cx="2075688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HTML • CSS • JavaScript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Python เสิร์ฟหน้าเว็บ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รับ Prompt และตัวเลือก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แสดงความคืบหน้า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Preview และดาวน์โหลด</a:t>
            </a:r>
            <a:endParaRPr lang="th-TH" sz="1230">
              <a:solidFill>
                <a:srgbClr val="657180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447288" y="1691640"/>
            <a:ext cx="2432304" cy="3346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447288" y="1691640"/>
            <a:ext cx="2432304" cy="137160"/>
          </a:xfrm>
          <a:prstGeom prst="rect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13" name="Shape 13"/>
          <p:cNvSpPr txBox="1"/>
          <p:nvPr/>
        </p:nvSpPr>
        <p:spPr>
          <a:xfrm>
            <a:off x="3611880" y="19842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Backend API</a:t>
            </a:r>
            <a:endParaRPr lang="th-TH" sz="1700">
              <a:solidFill>
                <a:srgbClr val="1C2936"/>
              </a:solidFill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3630168" y="2578608"/>
            <a:ext cx="2075688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FastAPI • Uvicorn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ตรวจคำขอและจัดคิวงาน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ให้ Worker รับงาน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เก็บสถานะและส่งไฟล์ภาพ</a:t>
            </a:r>
            <a:endParaRPr lang="th-TH" sz="1230">
              <a:solidFill>
                <a:srgbClr val="657180"/>
              </a:solidFill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327648" y="1691640"/>
            <a:ext cx="2432304" cy="3346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327648" y="1691640"/>
            <a:ext cx="2432304" cy="137160"/>
          </a:xfrm>
          <a:prstGeom prst="rect">
            <a:avLst/>
          </a:prstGeom>
          <a:solidFill>
            <a:srgbClr val="D59E35"/>
          </a:solidFill>
          <a:ln w="10160"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6492240" y="19842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SQLite</a:t>
            </a:r>
            <a:endParaRPr lang="th-TH" sz="1700">
              <a:solidFill>
                <a:srgbClr val="1C2936"/>
              </a:solidFill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510528" y="2578608"/>
            <a:ext cx="2075688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ฐานข้อมูลของ Backend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เก็บ Prompt, ค่าการสร้าง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สถานะ, ผลภาพ และเวลา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มี API สำหรับดูประวัติ</a:t>
            </a:r>
            <a:endParaRPr lang="th-TH" sz="1230">
              <a:solidFill>
                <a:srgbClr val="657180"/>
              </a:solidFill>
            </a:endParaRPr>
          </a:p>
        </p:txBody>
      </p:sp>
      <p:sp>
        <p:nvSpPr>
          <p:cNvPr id="19" name="Shape 19"/>
          <p:cNvSpPr/>
          <p:nvPr/>
        </p:nvSpPr>
        <p:spPr>
          <a:xfrm>
            <a:off x="9208008" y="1691640"/>
            <a:ext cx="2432304" cy="3346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20" name="Shape 20"/>
          <p:cNvSpPr/>
          <p:nvPr/>
        </p:nvSpPr>
        <p:spPr>
          <a:xfrm>
            <a:off x="9208008" y="1691640"/>
            <a:ext cx="2432304" cy="137160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9372600" y="19842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AI Worker</a:t>
            </a:r>
            <a:endParaRPr lang="th-TH" sz="1700">
              <a:solidFill>
                <a:srgbClr val="1C2936"/>
              </a:solidFill>
            </a:endParaRPr>
          </a:p>
        </p:txBody>
      </p:sp>
      <p:sp>
        <p:nvSpPr>
          <p:cNvPr id="22" name="Shape 22"/>
          <p:cNvSpPr txBox="1"/>
          <p:nvPr/>
        </p:nvSpPr>
        <p:spPr>
          <a:xfrm>
            <a:off x="9390888" y="2578608"/>
            <a:ext cx="2075688" cy="2011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PyTorch • Diffusers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โหลดโมเดลจากเครื่อง AI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ใช้ GPU เมื่อมี CUDA</a:t>
            </a:r>
            <a:endParaRPr lang="th-TH" sz="1230">
              <a:solidFill>
                <a:srgbClr val="657180"/>
              </a:solidFill>
            </a:endParaRPr>
          </a:p>
          <a:p>
            <a:pPr algn="l">
              <a:lnSpc>
                <a:spcPct val="115000"/>
              </a:lnSpc>
            </a:pPr>
            <a:r>
              <a:rPr lang="th-TH" sz="123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หรือประมวลผลบน CPU</a:t>
            </a:r>
            <a:endParaRPr lang="th-TH" sz="1230">
              <a:solidFill>
                <a:srgbClr val="657180"/>
              </a:solidFill>
            </a:endParaRPr>
          </a:p>
        </p:txBody>
      </p:sp>
      <p:sp>
        <p:nvSpPr>
          <p:cNvPr id="23" name="Shape 23"/>
          <p:cNvSpPr/>
          <p:nvPr/>
        </p:nvSpPr>
        <p:spPr>
          <a:xfrm>
            <a:off x="3099816" y="2999232"/>
            <a:ext cx="283464" cy="292608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4" name="Shape 24"/>
          <p:cNvSpPr/>
          <p:nvPr/>
        </p:nvSpPr>
        <p:spPr>
          <a:xfrm>
            <a:off x="5980176" y="2999232"/>
            <a:ext cx="283464" cy="292608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5" name="Shape 25"/>
          <p:cNvSpPr/>
          <p:nvPr/>
        </p:nvSpPr>
        <p:spPr>
          <a:xfrm>
            <a:off x="8860536" y="2999232"/>
            <a:ext cx="283464" cy="292608"/>
          </a:xfrm>
          <a:prstGeom prst="rightArrow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6" name="Shape 26"/>
          <p:cNvSpPr/>
          <p:nvPr/>
        </p:nvSpPr>
        <p:spPr>
          <a:xfrm>
            <a:off x="603504" y="5376672"/>
            <a:ext cx="10954512" cy="658368"/>
          </a:xfrm>
          <a:prstGeom prst="roundRect">
            <a:avLst/>
          </a:prstGeom>
          <a:solidFill>
            <a:srgbClr val="142334"/>
          </a:solidFill>
          <a:ln w="1016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832104" y="5495544"/>
            <a:ext cx="10497312" cy="39319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1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แยกเครื่องได้: Worker ติดต่อ Backend ผ่าน HTTP จึงไม่ต้องแชร์ SQLite หรือโฟลเดอร์ผลลัพธ์ข้ามเครื่อง</a:t>
            </a:r>
            <a:endParaRPr lang="th-TH" sz="1210">
              <a:solidFill>
                <a:srgbClr val="FFFFFF"/>
              </a:solidFill>
            </a:endParaRPr>
          </a:p>
        </p:txBody>
      </p:sp>
      <p:sp>
        <p:nvSpPr>
          <p:cNvPr id="28" name="Shape 28"/>
          <p:cNvSpPr/>
          <p:nvPr/>
        </p:nvSpPr>
        <p:spPr>
          <a:xfrm>
            <a:off x="530352" y="6473952"/>
            <a:ext cx="11109960" cy="10973"/>
          </a:xfrm>
          <a:prstGeom prst="rect">
            <a:avLst/>
          </a:prstGeom>
          <a:solidFill>
            <a:srgbClr val="D8D3CB"/>
          </a:solidFill>
          <a:ln w="10160">
            <a:noFill/>
          </a:ln>
        </p:spPr>
      </p:sp>
      <p:sp>
        <p:nvSpPr>
          <p:cNvPr id="29" name="Shape 29"/>
          <p:cNvSpPr txBox="1"/>
          <p:nvPr/>
        </p:nvSpPr>
        <p:spPr>
          <a:xfrm>
            <a:off x="539496" y="6510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IMAGEPRO  •  AI IMAGE STUDIO</a:t>
            </a:r>
            <a:endParaRPr lang="th-TH" sz="830">
              <a:solidFill>
                <a:srgbClr val="8B9299"/>
              </a:solidFill>
            </a:endParaRPr>
          </a:p>
        </p:txBody>
      </p:sp>
      <p:sp>
        <p:nvSpPr>
          <p:cNvPr id="30" name="Shape 30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05</a:t>
            </a:r>
            <a:endParaRPr lang="th-TH" sz="830">
              <a:solidFill>
                <a:srgbClr val="8B92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B"/>
          </a:solidFill>
          <a:ln w="10160">
            <a:noFill/>
          </a:ln>
        </p:spPr>
      </p:sp>
      <p:sp>
        <p:nvSpPr>
          <p:cNvPr id="3" name="Shape 3"/>
          <p:cNvSpPr/>
          <p:nvPr/>
        </p:nvSpPr>
        <p:spPr>
          <a:xfrm>
            <a:off x="521208" y="310896"/>
            <a:ext cx="420624" cy="50292"/>
          </a:xfrm>
          <a:prstGeom prst="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521208" y="4389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27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สรุปสำหรับนำเสนอ</a:t>
            </a:r>
            <a:endParaRPr lang="th-TH" sz="2700">
              <a:solidFill>
                <a:srgbClr val="1C2936"/>
              </a:solidFill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539496" y="9326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ImagePro ทำให้การสร้างภาพเป็นขั้นตอนที่ติดตามผลได้และแยกขยายส่วน AI ได้</a:t>
            </a:r>
            <a:endParaRPr lang="th-TH" sz="1250">
              <a:solidFill>
                <a:srgbClr val="657180"/>
              </a:solidFill>
            </a:endParaRPr>
          </a:p>
        </p:txBody>
      </p:sp>
      <p:sp>
        <p:nvSpPr>
          <p:cNvPr id="6" name="Shape 6"/>
          <p:cNvSpPr txBox="1"/>
          <p:nvPr/>
        </p:nvSpPr>
        <p:spPr>
          <a:xfrm>
            <a:off x="1124712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105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06</a:t>
            </a:r>
            <a:endParaRPr lang="th-TH" sz="1050">
              <a:solidFill>
                <a:srgbClr val="657180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621792" y="1600200"/>
            <a:ext cx="3246120" cy="223113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8" name="Shape 8"/>
          <p:cNvSpPr/>
          <p:nvPr/>
        </p:nvSpPr>
        <p:spPr>
          <a:xfrm>
            <a:off x="822960" y="1810512"/>
            <a:ext cx="118872" cy="411480"/>
          </a:xfrm>
          <a:prstGeom prst="roundRect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1060704" y="179222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55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ประสบการณ์ผู้ใช้</a:t>
            </a:r>
            <a:endParaRPr lang="th-TH" sz="1550">
              <a:solidFill>
                <a:srgbClr val="1C2936"/>
              </a:solidFill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850392" y="2423160"/>
            <a:ext cx="2761488" cy="1143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เขียน Prompt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เลือกโมเดลและสัดส่วน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ตั้งจำนวนภาพ / CFG Scale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ดู Preview และดาวน์โหลด</a:t>
            </a:r>
            <a:endParaRPr lang="th-TH" sz="1270">
              <a:solidFill>
                <a:srgbClr val="657180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151376" y="1600200"/>
            <a:ext cx="3246120" cy="223113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2544" y="1810512"/>
            <a:ext cx="118872" cy="411480"/>
          </a:xfrm>
          <a:prstGeom prst="roundRect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13" name="Shape 13"/>
          <p:cNvSpPr txBox="1"/>
          <p:nvPr/>
        </p:nvSpPr>
        <p:spPr>
          <a:xfrm>
            <a:off x="4590288" y="179222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55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การทำงานเบื้องหลัง</a:t>
            </a:r>
            <a:endParaRPr lang="th-TH" sz="1550">
              <a:solidFill>
                <a:srgbClr val="1C2936"/>
              </a:solidFill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4379976" y="2423160"/>
            <a:ext cx="2761488" cy="1143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Backend รับและจัดคิวงาน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Worker ประมวลผลด้วยโมเดล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ติดตาม progress และผลลัพธ์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ประวัติงานเก็บใน SQLite</a:t>
            </a:r>
            <a:endParaRPr lang="th-TH" sz="1270">
              <a:solidFill>
                <a:srgbClr val="657180"/>
              </a:solidFill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680960" y="1600200"/>
            <a:ext cx="3246120" cy="223113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ED9D1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882128" y="1810512"/>
            <a:ext cx="118872" cy="411480"/>
          </a:xfrm>
          <a:prstGeom prst="roundRect">
            <a:avLst/>
          </a:prstGeom>
          <a:solidFill>
            <a:srgbClr val="587FAC"/>
          </a:solidFill>
          <a:ln w="10160"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8119872" y="179222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55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ความปลอดภัยและการติดตั้ง</a:t>
            </a:r>
            <a:endParaRPr lang="th-TH" sz="1550">
              <a:solidFill>
                <a:srgbClr val="1C2936"/>
              </a:solidFill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7909560" y="2423160"/>
            <a:ext cx="2761488" cy="1143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Worker ใช้ shared token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ยืนยันตัวตนกับ Backend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แยกเครื่องที่มี GPU ได้</a:t>
            </a:r>
            <a:endParaRPr lang="th-TH" sz="1270">
              <a:solidFill>
                <a:srgbClr val="657180"/>
              </a:solidFill>
            </a:endParaRPr>
          </a:p>
          <a:p>
            <a:pPr algn="l">
              <a:lnSpc>
                <a:spcPct val="117000"/>
              </a:lnSpc>
            </a:pPr>
            <a:r>
              <a:rPr lang="th-TH" sz="1270" b="0" dirty="0">
                <a:solidFill>
                  <a:srgbClr val="657180"/>
                </a:solidFill>
                <a:latin typeface="Leelawadee UI"/>
                <a:ea typeface="Leelawadee UI"/>
                <a:cs typeface="Leelawadee UI"/>
              </a:rPr>
              <a:t>สื่อสารกันผ่าน HTTP API</a:t>
            </a:r>
            <a:endParaRPr lang="th-TH" sz="1270">
              <a:solidFill>
                <a:srgbClr val="657180"/>
              </a:solidFill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658368" y="425196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5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ลำดับ Demo</a:t>
            </a:r>
            <a:endParaRPr lang="th-TH" sz="1500">
              <a:solidFill>
                <a:srgbClr val="1C2936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67512" y="4681728"/>
            <a:ext cx="1920240" cy="530352"/>
          </a:xfrm>
          <a:prstGeom prst="roundRect">
            <a:avLst/>
          </a:prstGeom>
          <a:solidFill>
            <a:srgbClr val="E7E3DB"/>
          </a:solidFill>
          <a:ln w="10160">
            <a:noFill/>
          </a:ln>
        </p:spPr>
      </p:sp>
      <p:sp>
        <p:nvSpPr>
          <p:cNvPr id="21" name="Shape 21"/>
          <p:cNvSpPr/>
          <p:nvPr/>
        </p:nvSpPr>
        <p:spPr>
          <a:xfrm>
            <a:off x="777240" y="4791456"/>
            <a:ext cx="301752" cy="301752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2" name="Shape 22"/>
          <p:cNvSpPr txBox="1"/>
          <p:nvPr/>
        </p:nvSpPr>
        <p:spPr>
          <a:xfrm>
            <a:off x="777240" y="4794199"/>
            <a:ext cx="301752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3" name="Shape 23"/>
          <p:cNvSpPr txBox="1"/>
          <p:nvPr/>
        </p:nvSpPr>
        <p:spPr>
          <a:xfrm>
            <a:off x="1152144" y="476402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ใส่ Prompt</a:t>
            </a:r>
            <a:endParaRPr lang="th-TH" sz="1200">
              <a:solidFill>
                <a:srgbClr val="1C2936"/>
              </a:solidFill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2596896" y="4754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800" b="1" dirty="0">
                <a:solidFill>
                  <a:srgbClr val="EF6B52"/>
                </a:solidFill>
                <a:latin typeface="Leelawadee UI"/>
                <a:ea typeface="Leelawadee UI"/>
                <a:cs typeface="Leelawadee UI"/>
              </a:rPr>
              <a:t>→</a:t>
            </a:r>
            <a:endParaRPr lang="th-TH" sz="1800">
              <a:solidFill>
                <a:srgbClr val="EF6B52"/>
              </a:solidFill>
            </a:endParaRPr>
          </a:p>
        </p:txBody>
      </p:sp>
      <p:sp>
        <p:nvSpPr>
          <p:cNvPr id="25" name="Shape 25"/>
          <p:cNvSpPr/>
          <p:nvPr/>
        </p:nvSpPr>
        <p:spPr>
          <a:xfrm>
            <a:off x="2935224" y="4681728"/>
            <a:ext cx="1920240" cy="530352"/>
          </a:xfrm>
          <a:prstGeom prst="roundRect">
            <a:avLst/>
          </a:prstGeom>
          <a:solidFill>
            <a:srgbClr val="E7E3DB"/>
          </a:solidFill>
          <a:ln w="10160">
            <a:noFill/>
          </a:ln>
        </p:spPr>
      </p:sp>
      <p:sp>
        <p:nvSpPr>
          <p:cNvPr id="26" name="Shape 26"/>
          <p:cNvSpPr/>
          <p:nvPr/>
        </p:nvSpPr>
        <p:spPr>
          <a:xfrm>
            <a:off x="3044952" y="4791456"/>
            <a:ext cx="301752" cy="301752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3044952" y="4794199"/>
            <a:ext cx="301752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3419856" y="476402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เลือกค่า</a:t>
            </a:r>
            <a:endParaRPr lang="th-TH" sz="1200">
              <a:solidFill>
                <a:srgbClr val="1C2936"/>
              </a:solidFill>
            </a:endParaRPr>
          </a:p>
        </p:txBody>
      </p:sp>
      <p:sp>
        <p:nvSpPr>
          <p:cNvPr id="29" name="Shape 29"/>
          <p:cNvSpPr txBox="1"/>
          <p:nvPr/>
        </p:nvSpPr>
        <p:spPr>
          <a:xfrm>
            <a:off x="4864608" y="4754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800" b="1" dirty="0">
                <a:solidFill>
                  <a:srgbClr val="EF6B52"/>
                </a:solidFill>
                <a:latin typeface="Leelawadee UI"/>
                <a:ea typeface="Leelawadee UI"/>
                <a:cs typeface="Leelawadee UI"/>
              </a:rPr>
              <a:t>→</a:t>
            </a:r>
            <a:endParaRPr lang="th-TH" sz="1800">
              <a:solidFill>
                <a:srgbClr val="EF6B52"/>
              </a:solidFill>
            </a:endParaRPr>
          </a:p>
        </p:txBody>
      </p:sp>
      <p:sp>
        <p:nvSpPr>
          <p:cNvPr id="30" name="Shape 30"/>
          <p:cNvSpPr/>
          <p:nvPr/>
        </p:nvSpPr>
        <p:spPr>
          <a:xfrm>
            <a:off x="5202936" y="4681728"/>
            <a:ext cx="1920240" cy="530352"/>
          </a:xfrm>
          <a:prstGeom prst="roundRect">
            <a:avLst/>
          </a:prstGeom>
          <a:solidFill>
            <a:srgbClr val="E7E3DB"/>
          </a:solidFill>
          <a:ln w="10160">
            <a:noFill/>
          </a:ln>
        </p:spPr>
      </p:sp>
      <p:sp>
        <p:nvSpPr>
          <p:cNvPr id="31" name="Shape 31"/>
          <p:cNvSpPr/>
          <p:nvPr/>
        </p:nvSpPr>
        <p:spPr>
          <a:xfrm>
            <a:off x="5312664" y="4791456"/>
            <a:ext cx="301752" cy="301752"/>
          </a:xfrm>
          <a:prstGeom prst="ellipse">
            <a:avLst/>
          </a:prstGeom>
          <a:solidFill>
            <a:srgbClr val="EF6B52"/>
          </a:solidFill>
          <a:ln w="10160">
            <a:noFill/>
          </a:ln>
        </p:spPr>
      </p:sp>
      <p:sp>
        <p:nvSpPr>
          <p:cNvPr id="32" name="Shape 32"/>
          <p:cNvSpPr txBox="1"/>
          <p:nvPr/>
        </p:nvSpPr>
        <p:spPr>
          <a:xfrm>
            <a:off x="5312664" y="4794199"/>
            <a:ext cx="301752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33" name="Shape 33"/>
          <p:cNvSpPr txBox="1"/>
          <p:nvPr/>
        </p:nvSpPr>
        <p:spPr>
          <a:xfrm>
            <a:off x="5687568" y="476402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สร้างภาพ</a:t>
            </a:r>
            <a:endParaRPr lang="th-TH" sz="1200">
              <a:solidFill>
                <a:srgbClr val="1C2936"/>
              </a:solidFill>
            </a:endParaRPr>
          </a:p>
        </p:txBody>
      </p:sp>
      <p:sp>
        <p:nvSpPr>
          <p:cNvPr id="34" name="Shape 34"/>
          <p:cNvSpPr txBox="1"/>
          <p:nvPr/>
        </p:nvSpPr>
        <p:spPr>
          <a:xfrm>
            <a:off x="7132320" y="4754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800" b="1" dirty="0">
                <a:solidFill>
                  <a:srgbClr val="EF6B52"/>
                </a:solidFill>
                <a:latin typeface="Leelawadee UI"/>
                <a:ea typeface="Leelawadee UI"/>
                <a:cs typeface="Leelawadee UI"/>
              </a:rPr>
              <a:t>→</a:t>
            </a:r>
            <a:endParaRPr lang="th-TH" sz="1800">
              <a:solidFill>
                <a:srgbClr val="EF6B52"/>
              </a:solidFill>
            </a:endParaRPr>
          </a:p>
        </p:txBody>
      </p:sp>
      <p:sp>
        <p:nvSpPr>
          <p:cNvPr id="35" name="Shape 35"/>
          <p:cNvSpPr/>
          <p:nvPr/>
        </p:nvSpPr>
        <p:spPr>
          <a:xfrm>
            <a:off x="7470648" y="4681728"/>
            <a:ext cx="1920240" cy="530352"/>
          </a:xfrm>
          <a:prstGeom prst="roundRect">
            <a:avLst/>
          </a:prstGeom>
          <a:solidFill>
            <a:srgbClr val="E7E3DB"/>
          </a:solidFill>
          <a:ln w="10160">
            <a:noFill/>
          </a:ln>
        </p:spPr>
      </p:sp>
      <p:sp>
        <p:nvSpPr>
          <p:cNvPr id="36" name="Shape 36"/>
          <p:cNvSpPr/>
          <p:nvPr/>
        </p:nvSpPr>
        <p:spPr>
          <a:xfrm>
            <a:off x="7580376" y="4791456"/>
            <a:ext cx="301752" cy="301752"/>
          </a:xfrm>
          <a:prstGeom prst="ellipse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37" name="Shape 37"/>
          <p:cNvSpPr txBox="1"/>
          <p:nvPr/>
        </p:nvSpPr>
        <p:spPr>
          <a:xfrm>
            <a:off x="7580376" y="4794199"/>
            <a:ext cx="301752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38" name="Shape 38"/>
          <p:cNvSpPr txBox="1"/>
          <p:nvPr/>
        </p:nvSpPr>
        <p:spPr>
          <a:xfrm>
            <a:off x="7955280" y="476402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ดูความคืบหน้า</a:t>
            </a:r>
            <a:endParaRPr lang="th-TH" sz="1200">
              <a:solidFill>
                <a:srgbClr val="1C2936"/>
              </a:solidFill>
            </a:endParaRPr>
          </a:p>
        </p:txBody>
      </p:sp>
      <p:sp>
        <p:nvSpPr>
          <p:cNvPr id="39" name="Shape 39"/>
          <p:cNvSpPr txBox="1"/>
          <p:nvPr/>
        </p:nvSpPr>
        <p:spPr>
          <a:xfrm>
            <a:off x="9400032" y="4754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800" b="1" dirty="0">
                <a:solidFill>
                  <a:srgbClr val="EF6B52"/>
                </a:solidFill>
                <a:latin typeface="Leelawadee UI"/>
                <a:ea typeface="Leelawadee UI"/>
                <a:cs typeface="Leelawadee UI"/>
              </a:rPr>
              <a:t>→</a:t>
            </a:r>
            <a:endParaRPr lang="th-TH" sz="1800">
              <a:solidFill>
                <a:srgbClr val="EF6B52"/>
              </a:solidFill>
            </a:endParaRPr>
          </a:p>
        </p:txBody>
      </p:sp>
      <p:sp>
        <p:nvSpPr>
          <p:cNvPr id="40" name="Shape 40"/>
          <p:cNvSpPr/>
          <p:nvPr/>
        </p:nvSpPr>
        <p:spPr>
          <a:xfrm>
            <a:off x="9738360" y="4681728"/>
            <a:ext cx="1920240" cy="530352"/>
          </a:xfrm>
          <a:prstGeom prst="roundRect">
            <a:avLst/>
          </a:prstGeom>
          <a:solidFill>
            <a:srgbClr val="E7E3DB"/>
          </a:solidFill>
          <a:ln w="10160">
            <a:noFill/>
          </a:ln>
        </p:spPr>
      </p:sp>
      <p:sp>
        <p:nvSpPr>
          <p:cNvPr id="41" name="Shape 41"/>
          <p:cNvSpPr/>
          <p:nvPr/>
        </p:nvSpPr>
        <p:spPr>
          <a:xfrm>
            <a:off x="9848088" y="4791456"/>
            <a:ext cx="301752" cy="301752"/>
          </a:xfrm>
          <a:prstGeom prst="ellipse">
            <a:avLst/>
          </a:prstGeom>
          <a:solidFill>
            <a:srgbClr val="299A86"/>
          </a:solidFill>
          <a:ln w="10160">
            <a:noFill/>
          </a:ln>
        </p:spPr>
      </p:sp>
      <p:sp>
        <p:nvSpPr>
          <p:cNvPr id="42" name="Shape 42"/>
          <p:cNvSpPr txBox="1"/>
          <p:nvPr/>
        </p:nvSpPr>
        <p:spPr>
          <a:xfrm>
            <a:off x="9848088" y="4794199"/>
            <a:ext cx="301752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  <a:endParaRPr lang="th-TH" sz="1200">
              <a:solidFill>
                <a:srgbClr val="FFFFFF"/>
              </a:solidFill>
            </a:endParaRPr>
          </a:p>
        </p:txBody>
      </p:sp>
      <p:sp>
        <p:nvSpPr>
          <p:cNvPr id="43" name="Shape 43"/>
          <p:cNvSpPr txBox="1"/>
          <p:nvPr/>
        </p:nvSpPr>
        <p:spPr>
          <a:xfrm>
            <a:off x="10222992" y="476402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120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ดาวน์โหลด</a:t>
            </a:r>
            <a:endParaRPr lang="th-TH" sz="1200">
              <a:solidFill>
                <a:srgbClr val="1C2936"/>
              </a:solidFill>
            </a:endParaRPr>
          </a:p>
        </p:txBody>
      </p:sp>
      <p:sp>
        <p:nvSpPr>
          <p:cNvPr id="44" name="Shape 44"/>
          <p:cNvSpPr/>
          <p:nvPr/>
        </p:nvSpPr>
        <p:spPr>
          <a:xfrm>
            <a:off x="667512" y="5532120"/>
            <a:ext cx="10817352" cy="539496"/>
          </a:xfrm>
          <a:prstGeom prst="roundRect">
            <a:avLst/>
          </a:prstGeom>
          <a:solidFill>
            <a:srgbClr val="FBE2DC"/>
          </a:solidFill>
          <a:ln w="10160">
            <a:noFill/>
          </a:ln>
        </p:spPr>
      </p:sp>
      <p:sp>
        <p:nvSpPr>
          <p:cNvPr id="45" name="Shape 45"/>
          <p:cNvSpPr txBox="1"/>
          <p:nvPr/>
        </p:nvSpPr>
        <p:spPr>
          <a:xfrm>
            <a:off x="868680" y="5623560"/>
            <a:ext cx="103784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3000"/>
              </a:lnSpc>
            </a:pPr>
            <a:r>
              <a:rPr lang="th-TH" sz="1220" b="1" dirty="0">
                <a:solidFill>
                  <a:srgbClr val="1C2936"/>
                </a:solidFill>
                <a:latin typeface="Leelawadee UI"/>
                <a:ea typeface="Leelawadee UI"/>
                <a:cs typeface="Leelawadee UI"/>
              </a:rPr>
              <a:t>ประโยคปิด: ผู้ใช้บอกไอเดียเป็นข้อความ แล้วระบบจัดการคิวและส่งงานให้ AI Worker สร้างภาพกลับมาให้ดาวน์โหลด</a:t>
            </a:r>
            <a:endParaRPr lang="th-TH" sz="1220">
              <a:solidFill>
                <a:srgbClr val="1C2936"/>
              </a:solidFill>
            </a:endParaRPr>
          </a:p>
        </p:txBody>
      </p:sp>
      <p:sp>
        <p:nvSpPr>
          <p:cNvPr id="46" name="Shape 46"/>
          <p:cNvSpPr/>
          <p:nvPr/>
        </p:nvSpPr>
        <p:spPr>
          <a:xfrm>
            <a:off x="530352" y="6473952"/>
            <a:ext cx="11109960" cy="10973"/>
          </a:xfrm>
          <a:prstGeom prst="rect">
            <a:avLst/>
          </a:prstGeom>
          <a:solidFill>
            <a:srgbClr val="D8D3CB"/>
          </a:solidFill>
          <a:ln w="10160">
            <a:noFill/>
          </a:ln>
        </p:spPr>
      </p:sp>
      <p:sp>
        <p:nvSpPr>
          <p:cNvPr id="47" name="Shape 47"/>
          <p:cNvSpPr txBox="1"/>
          <p:nvPr/>
        </p:nvSpPr>
        <p:spPr>
          <a:xfrm>
            <a:off x="539496" y="6510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IMAGEPRO  •  AI IMAGE STUDIO</a:t>
            </a:r>
            <a:endParaRPr lang="th-TH" sz="830">
              <a:solidFill>
                <a:srgbClr val="8B9299"/>
              </a:solidFill>
            </a:endParaRPr>
          </a:p>
        </p:txBody>
      </p:sp>
      <p:sp>
        <p:nvSpPr>
          <p:cNvPr id="48" name="Shape 48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3000"/>
              </a:lnSpc>
            </a:pPr>
            <a:r>
              <a:rPr lang="th-TH" sz="830" b="0" dirty="0">
                <a:solidFill>
                  <a:srgbClr val="8B9299"/>
                </a:solidFill>
                <a:latin typeface="Leelawadee UI"/>
                <a:ea typeface="Leelawadee UI"/>
                <a:cs typeface="Leelawadee UI"/>
              </a:rPr>
              <a:t>06</a:t>
            </a:r>
            <a:endParaRPr lang="th-TH" sz="830">
              <a:solidFill>
                <a:srgbClr val="8B929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28840B-3F10-3C17-09D4-42A390DC5985}"/>
              </a:ext>
            </a:extLst>
          </p:cNvPr>
          <p:cNvSpPr txBox="1"/>
          <p:nvPr/>
        </p:nvSpPr>
        <p:spPr>
          <a:xfrm>
            <a:off x="4629150" y="638175"/>
            <a:ext cx="1580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ชื่อผู้นำเสนอ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C767B-6F96-7F23-F529-3600A6444AF3}"/>
              </a:ext>
            </a:extLst>
          </p:cNvPr>
          <p:cNvSpPr txBox="1"/>
          <p:nvPr/>
        </p:nvSpPr>
        <p:spPr>
          <a:xfrm>
            <a:off x="2190750" y="1524000"/>
            <a:ext cx="5489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นายชลนภัส  รักษ์เจริญ </a:t>
            </a:r>
            <a:r>
              <a:rPr lang="en-US" sz="3200" dirty="0"/>
              <a:t>    6710301051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AA0C4-2578-8461-9DBD-96205FBFE813}"/>
              </a:ext>
            </a:extLst>
          </p:cNvPr>
          <p:cNvSpPr txBox="1"/>
          <p:nvPr/>
        </p:nvSpPr>
        <p:spPr>
          <a:xfrm>
            <a:off x="2190750" y="2108775"/>
            <a:ext cx="5458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นายธนัท    เนตรยอง </a:t>
            </a:r>
            <a:r>
              <a:rPr lang="en-US" sz="3200" dirty="0"/>
              <a:t>    6720301003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0FC87-5729-83F4-58EB-B91917914F7A}"/>
              </a:ext>
            </a:extLst>
          </p:cNvPr>
          <p:cNvSpPr txBox="1"/>
          <p:nvPr/>
        </p:nvSpPr>
        <p:spPr>
          <a:xfrm>
            <a:off x="2190750" y="2703075"/>
            <a:ext cx="5718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นายทัศนัย  พินิจประเสริฐ</a:t>
            </a:r>
            <a:r>
              <a:rPr lang="en-US" sz="3200" dirty="0"/>
              <a:t>   6710301045</a:t>
            </a:r>
          </a:p>
        </p:txBody>
      </p:sp>
    </p:spTree>
    <p:extLst>
      <p:ext uri="{BB962C8B-B14F-4D97-AF65-F5344CB8AC3E}">
        <p14:creationId xmlns:p14="http://schemas.microsoft.com/office/powerpoint/2010/main" val="88936399"/>
      </p:ext>
    </p:extLst>
  </p:cSld>
  <p:clrMapOvr>
    <a:masterClrMapping/>
  </p:clrMapOvr>
</p:sld>
</file>

<file path=ppt/theme/theme1.xml><?xml version="1.0" encoding="utf-8"?>
<a:theme xmlns:a="http://schemas.openxmlformats.org/drawingml/2006/main" name="ImagePro">
  <a:themeElements>
    <a:clrScheme name="ImagePro">
      <a:dk1>
        <a:srgbClr val="142334"/>
      </a:dk1>
      <a:lt1>
        <a:srgbClr val="FFFFFF"/>
      </a:lt1>
      <a:dk2>
        <a:srgbClr val="1C2936"/>
      </a:dk2>
      <a:lt2>
        <a:srgbClr val="F4F1EB"/>
      </a:lt2>
      <a:accent1>
        <a:srgbClr val="EF6B52"/>
      </a:accent1>
      <a:accent2>
        <a:srgbClr val="299A86"/>
      </a:accent2>
      <a:accent3>
        <a:srgbClr val="587FAC"/>
      </a:accent3>
      <a:accent4>
        <a:srgbClr val="D59E35"/>
      </a:accent4>
      <a:accent5>
        <a:srgbClr val="657180"/>
      </a:accent5>
      <a:accent6>
        <a:srgbClr val="8B6EA8"/>
      </a:accent6>
      <a:hlink>
        <a:srgbClr val="2878B5"/>
      </a:hlink>
      <a:folHlink>
        <a:srgbClr val="76558C"/>
      </a:folHlink>
    </a:clrScheme>
    <a:fontScheme name="ImagePro">
      <a:majorFont>
        <a:latin typeface="Leelawadee UI"/>
        <a:ea typeface="Leelawadee UI"/>
        <a:cs typeface="Leelawadee UI"/>
      </a:majorFont>
      <a:minorFont>
        <a:latin typeface="Leelawadee UI"/>
        <a:ea typeface="Leelawadee UI"/>
        <a:cs typeface="Leelawadee UI"/>
      </a:minorFont>
    </a:fontScheme>
    <a:fmtScheme name="ImagePro">
      <a:fillStyleLst>
        <a:solidFill>
          <a:schemeClr val="phClr"/>
        </a:solidFill>
        <a:solidFill>
          <a:schemeClr val="phClr">
            <a:alpha val="50000"/>
          </a:schemeClr>
        </a:solidFill>
        <a:solidFill>
          <a:schemeClr val="phClr">
            <a:alpha val="3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alpha val="50000"/>
          </a:schemeClr>
        </a:solidFill>
        <a:solidFill>
          <a:schemeClr val="phClr">
            <a:alpha val="3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Widescreen</PresentationFormat>
  <Paragraphs>181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Leelawadee UI</vt:lpstr>
      <vt:lpstr>ImagePro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napha.sirivoranan@gmail.com</cp:lastModifiedBy>
  <cp:revision>1</cp:revision>
  <dcterms:modified xsi:type="dcterms:W3CDTF">2026-10-14T06:02:08Z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ImagePro — สรุปการทำงาน</dc:title>
  <dc:subject>สไลด์นำเสนอภาษาไทย</dc:subject>
  <dc:creator>OpenAI</dc:creator>
</cp:coreProperties>
</file>